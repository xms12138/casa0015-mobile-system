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pitch sentence: every journey, remembered.</a:t>
            </a:r>
          </a:p>
          <a:p>
            <a:r>
              <a:t>This is solo coursework — 100% individual mark.</a:t>
            </a:r>
          </a:p>
          <a:p>
            <a:r>
              <a:t>I'll spend ~1 minute per slide, leaving room for the embedded demo on slide 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Mia: 27, urban planner, walks new London neighbourhoods on weekends.</a:t>
            </a:r>
          </a:p>
          <a:p>
            <a:r>
              <a:t>Today she has 400 photos in Google Photos and zero context.</a:t>
            </a:r>
          </a:p>
          <a:p>
            <a:r>
              <a:t>Pivot to: TravelTrace records all three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explicit hooks tie the app to the Connected Environments theme.</a:t>
            </a:r>
          </a:p>
          <a:p>
            <a:r>
              <a:t>Each is concrete: sensor names, API names, persistence strategy.</a:t>
            </a:r>
          </a:p>
          <a:p>
            <a:r>
              <a:t>This slide differentiates from a generic location tracker.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User-centred design: persona first, features second.</a:t>
            </a:r>
          </a:p>
          <a:p>
            <a:r>
              <a:t>The 6-beat storyboard is in the README — it shaped product choices.</a:t>
            </a:r>
          </a:p>
          <a:p>
            <a:r>
              <a:t>Beat 6 is the payoff — frame everything that follows around 'making replay feel rich'.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layers, dependency flows downward only.</a:t>
            </a:r>
          </a:p>
          <a:p>
            <a:r>
              <a:t>Local-first means the app works offline; Firestore is best-effort backup.</a:t>
            </a:r>
          </a:p>
          <a:p>
            <a:r>
              <a:t>This separation made the Huawei GPS / GMS issue tractable.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sensors, only two need filtering — camera is one-shot.</a:t>
            </a:r>
          </a:p>
          <a:p>
            <a:r>
              <a:t>Forward-reference: the GPS dual-gate exists because of the case study on slide 13.</a:t>
            </a:r>
          </a:p>
          <a:p>
            <a:r>
              <a:t>Course rubric explicitly asks for sensor smoothing.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services tied to three concrete design choices.</a:t>
            </a:r>
          </a:p>
          <a:p>
            <a:r>
              <a:t>Security: keys never in source — gitignored env.json + manifestPlaceholders.</a:t>
            </a:r>
          </a:p>
          <a:p>
            <a:r>
              <a:t>Efficiency: parallel fetch + 5-min cadence avoids quota exhaustion.</a:t>
            </a:r>
          </a:p>
          <a:p>
            <a:r>
              <a:t>Resilience: failure isolation rule applies to all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Local-first lets the app work in tunnels, on planes, on Huawei devices with no FLP.</a:t>
            </a:r>
          </a:p>
          <a:p>
            <a:r>
              <a:t>Cloud sync is best-effort because Firebase Storage is paid — Spark plan limitation.</a:t>
            </a:r>
          </a:p>
          <a:p>
            <a:r>
              <a:t>Photos stay local-path-only; cloud has the metadata, not the pixels.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user through the recording flow in narrative order.</a:t>
            </a:r>
          </a:p>
          <a:p>
            <a:r>
              <a:t>Highlight: the map self-marker tracks the user even before pressing Start.</a:t>
            </a:r>
          </a:p>
          <a:p>
            <a:r>
              <a:t>Permission UX kept extremely minimal by deliberate design — see DEVLOG.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emotional payoff — call back to the storyboard's beat 6.</a:t>
            </a:r>
          </a:p>
          <a:p>
            <a:r>
              <a:t>Five widgets in concert: Slider, IconButton.filled, SegmentedButton, Polyline, AnimatedSwitcher.</a:t>
            </a:r>
          </a:p>
          <a:p>
            <a:r>
              <a:t>The clock-from-continuous-progress fix is small but representative — see DEVLOG.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30% rubric — highest weight. Hit each quadrant with one specific example.</a:t>
            </a:r>
          </a:p>
          <a:p>
            <a:r>
              <a:t>Hand-coded statement matters: Mark Scheme penalises 'automated UI builder' explicitly.</a:t>
            </a:r>
          </a:p>
          <a:p>
            <a:r>
              <a:t>If asked, give a deeper example: PictureRecorder for the heading marker.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3-min showcase video required by the Mark Scheme (Presentation 20%).</a:t>
            </a:r>
          </a:p>
          <a:p>
            <a:r>
              <a:t>Switch to the embedded video here.  Cue the slider scrub at the end.</a:t>
            </a:r>
          </a:p>
          <a:p>
            <a:r>
              <a:t>If video fails, fall back to the live demo on the test device.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case study chosen to show problem-solving across hardware boundaries.</a:t>
            </a:r>
          </a:p>
          <a:p>
            <a:r>
              <a:t>Lesson: bypassing GMS solves 'no GPS data' but inherits 'no fusion' as a cost — pay it back at app layer.</a:t>
            </a:r>
          </a:p>
          <a:p>
            <a:r>
              <a:t>Five other cases catalogued in DEVLOG.md, all with the same phenomenon / root cause / resolution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Address Functionality 15% rubric: rich commit history, code comments, problem-solving.</a:t>
            </a:r>
          </a:p>
          <a:p>
            <a:r>
              <a:t>If asked about the 0 issues claim, mention: lint runs on every commit.</a:t>
            </a:r>
          </a:p>
          <a:p>
            <a:r>
              <a:t>Hand-coded matters because automated builders are explicitly penalised.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Invite Q&amp;A.  Have answers ready for: 'why no iOS?', 'why local-first?', 'how big is the dataset?'.</a:t>
            </a:r>
          </a:p>
          <a:p>
            <a:r>
              <a:t>Mention the three roadmap items in priority order.</a:t>
            </a:r>
          </a:p>
          <a:p>
            <a:r>
              <a:t>Thanks the panel; offer to walk through any code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4206240" cy="292608"/>
          </a:xfrm>
          <a:prstGeom prst="roundRect">
            <a:avLst>
              <a:gd name="adj" fmla="val 50000"/>
            </a:avLst>
          </a:prstGeom>
          <a:solidFill>
            <a:srgbClr val="0A0A0B"/>
          </a:solidFill>
          <a:ln w="9525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4ADE80"/>
                </a:solidFill>
                <a:latin typeface="Calibri"/>
              </a:rPr>
              <a:t>UCL CASA0015 · CONNECTED ENVIRONMENTS · 2025/26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 i="0">
                <a:solidFill>
                  <a:srgbClr val="FAFAFA"/>
                </a:solidFill>
                <a:latin typeface="Calibri"/>
              </a:rPr>
              <a:t>TravelTrace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 i="1">
                <a:solidFill>
                  <a:srgbClr val="4ADE80"/>
                </a:solidFill>
                <a:latin typeface="Calibri"/>
              </a:rPr>
              <a:t>Every journey, remembered.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10241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A1A1AA"/>
                </a:solidFill>
                <a:latin typeface="Calibri"/>
              </a:rPr>
              <a:t>A Flutter travel recorder with GPS, photos, and ambient weather</a:t>
            </a:r>
          </a:p>
          <a:p>
            <a:pPr algn="l"/>
            <a:r>
              <a:rPr sz="1800" b="0" i="0">
                <a:solidFill>
                  <a:srgbClr val="A1A1AA"/>
                </a:solidFill>
                <a:latin typeface="Calibri"/>
              </a:rPr>
              <a:t>woven into one replayable timeline.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36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AFAFA"/>
                </a:solidFill>
                <a:latin typeface="Calibri"/>
              </a:rPr>
              <a:t>Hanzhe Xu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1717A"/>
                </a:solidFill>
                <a:latin typeface="Calibri"/>
              </a:rPr>
              <a:t>Individual coursework · 80% Mobile App + 20% Presentation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362895" y="6035040"/>
            <a:ext cx="1280160" cy="5486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673352" cy="292608"/>
          </a:xfrm>
          <a:prstGeom prst="roundRect">
            <a:avLst>
              <a:gd name="adj" fmla="val 50000"/>
            </a:avLst>
          </a:prstGeom>
          <a:solidFill>
            <a:srgbClr val="0A0A0B"/>
          </a:solidFill>
          <a:ln w="9525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67335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4ADE80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AFAFA"/>
                </a:solidFill>
                <a:latin typeface="Calibri"/>
              </a:rPr>
              <a:t>Photo apps lose the route.
Location apps lose the moments.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110944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 i="0">
                <a:solidFill>
                  <a:srgbClr val="A1A1AA"/>
                </a:solidFill>
                <a:latin typeface="Calibri"/>
              </a:rPr>
              <a:t>Three months later you have a folder of disconnected images, no map,</a:t>
            </a:r>
          </a:p>
          <a:p>
            <a:pPr algn="l"/>
            <a:r>
              <a:rPr sz="2200" b="0" i="0">
                <a:solidFill>
                  <a:srgbClr val="A1A1AA"/>
                </a:solidFill>
                <a:latin typeface="Calibri"/>
              </a:rPr>
              <a:t>and no idea what the air quality was that day.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846320"/>
            <a:ext cx="11094415" cy="118872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846320"/>
            <a:ext cx="10545775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AFAFA"/>
                </a:solidFill>
                <a:latin typeface="Calibri"/>
              </a:rPr>
              <a:t>TravelTrace records all three together —</a:t>
            </a:r>
          </a:p>
          <a:p>
            <a:pPr algn="l"/>
            <a:r>
              <a:rPr sz="1600" b="0" i="0">
                <a:solidFill>
                  <a:srgbClr val="A1A1AA"/>
                </a:solidFill>
                <a:latin typeface="Calibri"/>
              </a:rPr>
              <a:t>the route, the photos, and the surrounding environment — and lets you replay them as one story.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1717A"/>
                </a:solidFill>
                <a:latin typeface="Calibri"/>
              </a:rPr>
              <a:t>TravelTrace · CASA0015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255" y="65379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1717A"/>
                </a:solidFill>
                <a:latin typeface="Calibri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435607" cy="292608"/>
          </a:xfrm>
          <a:prstGeom prst="roundRect">
            <a:avLst>
              <a:gd name="adj" fmla="val 50000"/>
            </a:avLst>
          </a:prstGeom>
          <a:solidFill>
            <a:srgbClr val="0A0A0B"/>
          </a:solidFill>
          <a:ln w="9525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435607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4ADE80"/>
                </a:solidFill>
                <a:latin typeface="Calibri"/>
              </a:rPr>
              <a:t>THEME 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AFAFA"/>
                </a:solidFill>
                <a:latin typeface="Calibri"/>
              </a:rPr>
              <a:t>How TravelTrace embodies
Connected Environments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447" y="2651760"/>
            <a:ext cx="3474720" cy="3108960"/>
          </a:xfrm>
          <a:prstGeom prst="roundRect">
            <a:avLst>
              <a:gd name="adj" fmla="val 5000"/>
            </a:avLst>
          </a:prstGeom>
          <a:solidFill>
            <a:srgbClr val="18181B"/>
          </a:solidFill>
          <a:ln w="9525">
            <a:solidFill>
              <a:srgbClr val="3F3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9487" y="288036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4ADE80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9487" y="374904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AFAFA"/>
                </a:solidFill>
                <a:latin typeface="Calibri"/>
              </a:rPr>
              <a:t>Onboard sensors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9487" y="4343400"/>
            <a:ext cx="28346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A1A1AA"/>
                </a:solidFill>
                <a:latin typeface="Calibri"/>
              </a:rPr>
              <a:t>GPS, compass, and camera continuously sample the user's physical position and orientation in real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8487" y="2651760"/>
            <a:ext cx="3474720" cy="3108960"/>
          </a:xfrm>
          <a:prstGeom prst="roundRect">
            <a:avLst>
              <a:gd name="adj" fmla="val 5000"/>
            </a:avLst>
          </a:prstGeom>
          <a:solidFill>
            <a:srgbClr val="18181B"/>
          </a:solidFill>
          <a:ln w="9525">
            <a:solidFill>
              <a:srgbClr val="3F3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8527" y="288036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4ADE80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8527" y="374904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AFAFA"/>
                </a:solidFill>
                <a:latin typeface="Calibri"/>
              </a:rPr>
              <a:t>External APIs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8527" y="4343400"/>
            <a:ext cx="28346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A1A1AA"/>
                </a:solidFill>
                <a:latin typeface="Calibri"/>
              </a:rPr>
              <a:t>OpenWeatherMap current weather + air pollution polled every 5 min for ambient temperature, wind, humidity, AQI.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7527" y="2651760"/>
            <a:ext cx="3474720" cy="3108960"/>
          </a:xfrm>
          <a:prstGeom prst="roundRect">
            <a:avLst>
              <a:gd name="adj" fmla="val 5000"/>
            </a:avLst>
          </a:prstGeom>
          <a:solidFill>
            <a:srgbClr val="18181B"/>
          </a:solidFill>
          <a:ln w="9525">
            <a:solidFill>
              <a:srgbClr val="3F3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27567" y="288036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4ADE80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7567" y="374904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AFAFA"/>
                </a:solidFill>
                <a:latin typeface="Calibri"/>
              </a:rPr>
              <a:t>Time-series persistence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7567" y="4343400"/>
            <a:ext cx="28346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A1A1AA"/>
                </a:solidFill>
                <a:latin typeface="Calibri"/>
              </a:rPr>
              <a:t>Every reading is stored locally with a timestamp so the environment can be reconstructed alongside the route.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1717A"/>
                </a:solidFill>
                <a:latin typeface="Calibri"/>
              </a:rPr>
              <a:t>TravelTrace · CASA0015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14255" y="65379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1717A"/>
                </a:solidFill>
                <a:latin typeface="Calibri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078992" cy="292608"/>
          </a:xfrm>
          <a:prstGeom prst="roundRect">
            <a:avLst>
              <a:gd name="adj" fmla="val 50000"/>
            </a:avLst>
          </a:prstGeom>
          <a:solidFill>
            <a:srgbClr val="0A0A0B"/>
          </a:solidFill>
          <a:ln w="9525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7899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4ADE80"/>
                </a:solidFill>
                <a:latin typeface="Calibri"/>
              </a:rPr>
              <a:t>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AFAFA"/>
                </a:solidFill>
                <a:latin typeface="Calibri"/>
              </a:rPr>
              <a:t>User persona drove every decision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68880"/>
            <a:ext cx="5120640" cy="3566160"/>
          </a:xfrm>
          <a:prstGeom prst="roundRect">
            <a:avLst>
              <a:gd name="adj" fmla="val 5000"/>
            </a:avLst>
          </a:prstGeom>
          <a:solidFill>
            <a:srgbClr val="18181B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0A0A0B"/>
          </a:solidFill>
          <a:ln w="9525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4ADE80"/>
                </a:solidFill>
                <a:latin typeface="Calibri"/>
              </a:rPr>
              <a:t>PRIMARY PERSONA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AFAFA"/>
                </a:solidFill>
                <a:latin typeface="Calibri"/>
              </a:rPr>
              <a:t>Mia, 27 — urban planner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86200"/>
            <a:ext cx="4572000" cy="1874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A1A1AA"/>
                </a:solidFill>
                <a:latin typeface="Calibri"/>
              </a:rPr>
              <a:t>Each weekend Mia walks an unfamiliar London neighbourhood and snaps photos of architectural details. Three months later, when a colleague asks </a:t>
            </a:r>
          </a:p>
          <a:p>
            <a:pPr algn="l"/>
            <a:r>
              <a:rPr sz="1300" b="0" i="1">
                <a:solidFill>
                  <a:srgbClr val="FAFAFA"/>
                </a:solidFill>
                <a:latin typeface="Calibri"/>
              </a:rPr>
              <a:t>"where did you see that ironwork?"</a:t>
            </a:r>
          </a:p>
          <a:p>
            <a:pPr algn="l"/>
            <a:r>
              <a:rPr sz="1300" b="0" i="0">
                <a:solidFill>
                  <a:srgbClr val="A1A1AA"/>
                </a:solidFill>
                <a:latin typeface="Calibri"/>
              </a:rPr>
              <a:t> she scrolls through 400 thumbnails with no map, no route, no idea what the air quality was. </a:t>
            </a:r>
          </a:p>
          <a:p>
            <a:pPr algn="l"/>
            <a:r>
              <a:rPr sz="1300" b="1" i="0">
                <a:solidFill>
                  <a:srgbClr val="FAFAFA"/>
                </a:solidFill>
                <a:latin typeface="Calibri"/>
              </a:rPr>
              <a:t>She wants a way to revisit the whole journey, not just the photos.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246888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A0A0B"/>
          </a:solidFill>
          <a:ln w="9525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246888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4ADE80"/>
                </a:solidFill>
                <a:latin typeface="Calibri"/>
              </a:rPr>
              <a:t>STORYBOARD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926080"/>
            <a:ext cx="56994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AFAFA"/>
                </a:solidFill>
                <a:latin typeface="Calibri"/>
              </a:rPr>
              <a:t>Six-beat emotional arc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474720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ADE80"/>
                </a:solidFill>
                <a:latin typeface="Consolas"/>
              </a:rPr>
              <a:t>01  Set 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474720"/>
            <a:ext cx="37792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A1A1AA"/>
                </a:solidFill>
                <a:latin typeface="Calibri"/>
              </a:rPr>
              <a:t>Splash fades.  No friction.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931920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ADE80"/>
                </a:solidFill>
                <a:latin typeface="Consolas"/>
              </a:rPr>
              <a:t>02  Press Start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3931920"/>
            <a:ext cx="37792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A1A1AA"/>
                </a:solidFill>
                <a:latin typeface="Calibri"/>
              </a:rPr>
              <a:t>Live polyline.  The app pays attention.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389120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ADE80"/>
                </a:solidFill>
                <a:latin typeface="Consolas"/>
              </a:rPr>
              <a:t>03  Capture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389120"/>
            <a:ext cx="37792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A1A1AA"/>
                </a:solidFill>
                <a:latin typeface="Calibri"/>
              </a:rPr>
              <a:t>Photo anchored exactly where she stood.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846320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ADE80"/>
                </a:solidFill>
                <a:latin typeface="Consolas"/>
              </a:rPr>
              <a:t>04  Elements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846320"/>
            <a:ext cx="37792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A1A1AA"/>
                </a:solidFill>
                <a:latin typeface="Calibri"/>
              </a:rPr>
              <a:t>Weather + AQI sample silently.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5303520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ADE80"/>
                </a:solidFill>
                <a:latin typeface="Consolas"/>
              </a:rPr>
              <a:t>05  Stop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303520"/>
            <a:ext cx="37792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A1A1AA"/>
                </a:solidFill>
                <a:latin typeface="Calibri"/>
              </a:rPr>
              <a:t>Saved.  Nothing to manage.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5760720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ADE80"/>
                </a:solidFill>
                <a:latin typeface="Consolas"/>
              </a:rPr>
              <a:t>06  Replay later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760720"/>
            <a:ext cx="37792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A1A1AA"/>
                </a:solidFill>
                <a:latin typeface="Calibri"/>
              </a:rPr>
              <a:t>Slider.  Photos surface.  She relives it.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2636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71717A"/>
                </a:solidFill>
                <a:latin typeface="Calibri"/>
              </a:rPr>
              <a:t>The replay screen is the emotional payoff — every earlier decision exists to make this single moment feel rich.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1717A"/>
                </a:solidFill>
                <a:latin typeface="Calibri"/>
              </a:rPr>
              <a:t>TravelTrace · CASA0015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14255" y="65379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1717A"/>
                </a:solidFill>
                <a:latin typeface="Calibri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792224" cy="292608"/>
          </a:xfrm>
          <a:prstGeom prst="roundRect">
            <a:avLst>
              <a:gd name="adj" fmla="val 50000"/>
            </a:avLst>
          </a:prstGeom>
          <a:solidFill>
            <a:srgbClr val="0A0A0B"/>
          </a:solidFill>
          <a:ln w="9525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79222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4ADE80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AFAFA"/>
                </a:solidFill>
                <a:latin typeface="Calibri"/>
              </a:rPr>
              <a:t>Three layers, one direction of dependency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68880"/>
            <a:ext cx="7894015" cy="914400"/>
          </a:xfrm>
          <a:prstGeom prst="roundRect">
            <a:avLst>
              <a:gd name="adj" fmla="val 5000"/>
            </a:avLst>
          </a:prstGeom>
          <a:solidFill>
            <a:srgbClr val="18181B"/>
          </a:solidFill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4ADE80"/>
                </a:solidFill>
                <a:latin typeface="Calibri"/>
              </a:rPr>
              <a:t>UI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2468880"/>
            <a:ext cx="4922215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A1A1AA"/>
                </a:solidFill>
                <a:latin typeface="Consolas"/>
              </a:rPr>
              <a:t>Splash  →  MainScaffold (NavigationBar)  →  Home / Record / History  →  Trip Detail</a:t>
            </a:r>
          </a:p>
        </p:txBody>
      </p:sp>
      <p:sp>
        <p:nvSpPr>
          <p:cNvPr id="9" name="Down Arrow 8"/>
          <p:cNvSpPr/>
          <p:nvPr/>
        </p:nvSpPr>
        <p:spPr>
          <a:xfrm>
            <a:off x="4358487" y="3429000"/>
            <a:ext cx="274320" cy="320040"/>
          </a:xfrm>
          <a:prstGeom prst="downArrow">
            <a:avLst/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3794760"/>
            <a:ext cx="7894015" cy="914400"/>
          </a:xfrm>
          <a:prstGeom prst="roundRect">
            <a:avLst>
              <a:gd name="adj" fmla="val 5000"/>
            </a:avLst>
          </a:prstGeom>
          <a:solidFill>
            <a:srgbClr val="18181B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79476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2E7D32"/>
                </a:solidFill>
                <a:latin typeface="Calibri"/>
              </a:rPr>
              <a:t>Service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794760"/>
            <a:ext cx="4922215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A1A1AA"/>
                </a:solidFill>
                <a:latin typeface="Consolas"/>
              </a:rPr>
              <a:t>LocationService   ·   CameraService   ·   WeatherService   ·   DatabaseService   ·   FirebaseService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4358487" y="4754880"/>
            <a:ext cx="274320" cy="320040"/>
          </a:xfrm>
          <a:prstGeom prst="downArrow">
            <a:avLst/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5120640"/>
            <a:ext cx="7894015" cy="914400"/>
          </a:xfrm>
          <a:prstGeom prst="roundRect">
            <a:avLst>
              <a:gd name="adj" fmla="val 5000"/>
            </a:avLst>
          </a:prstGeom>
          <a:solidFill>
            <a:srgbClr val="18181B"/>
          </a:solidFill>
          <a:ln w="19050">
            <a:solidFill>
              <a:srgbClr val="7171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12064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71717A"/>
                </a:solidFill>
                <a:latin typeface="Calibri"/>
              </a:rPr>
              <a:t>External Systems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5120640"/>
            <a:ext cx="4922215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A1A1AA"/>
                </a:solidFill>
                <a:latin typeface="Consolas"/>
              </a:rPr>
              <a:t>GPS  ·  Compass  ·  Camera  ·  OpenWeatherMap  ·  Google Maps SDK  ·  Firebase Auth + Firestore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08415" y="2468880"/>
            <a:ext cx="2834640" cy="3108960"/>
          </a:xfrm>
          <a:prstGeom prst="roundRect">
            <a:avLst>
              <a:gd name="adj" fmla="val 5000"/>
            </a:avLst>
          </a:prstGeom>
          <a:solidFill>
            <a:srgbClr val="18181B"/>
          </a:solidFill>
          <a:ln w="9525">
            <a:solidFill>
              <a:srgbClr val="3F3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37015" y="269748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0A0A0B"/>
          </a:solidFill>
          <a:ln w="9525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37015" y="269748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4ADE80"/>
                </a:solidFill>
                <a:latin typeface="Calibri"/>
              </a:rPr>
              <a:t>DESIGN PRINCIPLE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37015" y="3200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AFAFA"/>
                </a:solidFill>
                <a:latin typeface="Calibri"/>
              </a:rPr>
              <a:t>Local-first.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7015" y="3840480"/>
            <a:ext cx="23774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A1A1AA"/>
                </a:solidFill>
                <a:latin typeface="Calibri"/>
              </a:rPr>
              <a:t>SQLite is the source of truth.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A1A1AA"/>
                </a:solidFill>
                <a:latin typeface="Calibri"/>
              </a:rPr>
              <a:t>Firestore is a one-way mirror.</a:t>
            </a:r>
          </a:p>
          <a:p>
            <a:pPr algn="l"/>
            <a:r>
              <a:rPr sz="1300" b="0" i="0">
                <a:solidFill>
                  <a:srgbClr val="A1A1AA"/>
                </a:solidFill>
                <a:latin typeface="Calibri"/>
              </a:rPr>
              <a:t>External APIs never block the recording flow.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1717A"/>
                </a:solidFill>
                <a:latin typeface="Calibri"/>
              </a:rPr>
              <a:t>TravelTrace · CASA0015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14255" y="65379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1717A"/>
                </a:solidFill>
                <a:latin typeface="Calibri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0A0A0B"/>
          </a:solidFill>
          <a:ln w="9525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2148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4ADE80"/>
                </a:solidFill>
                <a:latin typeface="Calibri"/>
              </a:rPr>
              <a:t>DATA COLLECTION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AFAFA"/>
                </a:solidFill>
                <a:latin typeface="Calibri"/>
              </a:rPr>
              <a:t>Three sensors, two filters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3435" y="2377440"/>
            <a:ext cx="3611880" cy="3657600"/>
          </a:xfrm>
          <a:prstGeom prst="roundRect">
            <a:avLst>
              <a:gd name="adj" fmla="val 4000"/>
            </a:avLst>
          </a:prstGeom>
          <a:solidFill>
            <a:srgbClr val="18181B"/>
          </a:solidFill>
          <a:ln w="9525">
            <a:solidFill>
              <a:srgbClr val="3F3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3435" y="2377440"/>
            <a:ext cx="73152" cy="36576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7755" y="265176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AFAFA"/>
                </a:solidFill>
                <a:latin typeface="Calibri"/>
              </a:rPr>
              <a:t>GPS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7755" y="315468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71717A"/>
                </a:solidFill>
                <a:latin typeface="Consolas"/>
              </a:rPr>
              <a:t>geolocator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7755" y="3657600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ADE80"/>
                </a:solidFill>
                <a:latin typeface="Calibri"/>
              </a:rPr>
              <a:t>Dual-gate filter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7755" y="397764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  <a:latin typeface="Calibri"/>
              </a:rPr>
              <a:t>drop fix if accuracy &gt; 30 m or implied speed &gt; 56 m/s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755" y="4434840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ADE80"/>
                </a:solidFill>
                <a:latin typeface="Calibri"/>
              </a:rPr>
              <a:t>Linear EMA  α = 0.35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755" y="475488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  <a:latin typeface="Calibri"/>
              </a:rPr>
              <a:t>on lat/lng for stored track 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7755" y="5212080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ADE80"/>
                </a:solidFill>
                <a:latin typeface="Calibri"/>
              </a:rPr>
              <a:t>Live marker uses raw fix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7755" y="553212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  <a:latin typeface="Calibri"/>
              </a:rPr>
              <a:t>no smoothing lag for the user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9907" y="2377440"/>
            <a:ext cx="3611880" cy="3657600"/>
          </a:xfrm>
          <a:prstGeom prst="roundRect">
            <a:avLst>
              <a:gd name="adj" fmla="val 4000"/>
            </a:avLst>
          </a:prstGeom>
          <a:solidFill>
            <a:srgbClr val="18181B"/>
          </a:solidFill>
          <a:ln w="9525">
            <a:solidFill>
              <a:srgbClr val="3F3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89907" y="2377440"/>
            <a:ext cx="73152" cy="36576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4227" y="265176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AFAFA"/>
                </a:solidFill>
                <a:latin typeface="Calibri"/>
              </a:rPr>
              <a:t>Compass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4227" y="315468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71717A"/>
                </a:solidFill>
                <a:latin typeface="Consolas"/>
              </a:rPr>
              <a:t>flutter_compass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4227" y="3657600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ADE80"/>
                </a:solidFill>
                <a:latin typeface="Calibri"/>
              </a:rPr>
              <a:t>Circular EMA  α = 0.15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4227" y="397764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  <a:latin typeface="Calibri"/>
              </a:rPr>
              <a:t>on  (sin θ, cos θ)  components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64227" y="4434840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ADE80"/>
                </a:solidFill>
                <a:latin typeface="Calibri"/>
              </a:rPr>
              <a:t>atan2 recovery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64227" y="475488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  <a:latin typeface="Calibri"/>
              </a:rPr>
              <a:t>359°↔1° wrap can't collapse to 180°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4227" y="5212080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ADE80"/>
                </a:solidFill>
                <a:latin typeface="Calibri"/>
              </a:rPr>
              <a:t>Smooth rotation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4227" y="553212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  <a:latin typeface="Calibri"/>
              </a:rPr>
              <a:t>under magnetic noise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66379" y="2377440"/>
            <a:ext cx="3611880" cy="3657600"/>
          </a:xfrm>
          <a:prstGeom prst="roundRect">
            <a:avLst>
              <a:gd name="adj" fmla="val 4000"/>
            </a:avLst>
          </a:prstGeom>
          <a:solidFill>
            <a:srgbClr val="18181B"/>
          </a:solidFill>
          <a:ln w="9525">
            <a:solidFill>
              <a:srgbClr val="3F3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66379" y="2377440"/>
            <a:ext cx="73152" cy="36576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40699" y="265176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AFAFA"/>
                </a:solidFill>
                <a:latin typeface="Calibri"/>
              </a:rPr>
              <a:t>Camera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0699" y="315468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71717A"/>
                </a:solidFill>
                <a:latin typeface="Consolas"/>
              </a:rPr>
              <a:t>image_picker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0699" y="3657600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ADE80"/>
                </a:solidFill>
                <a:latin typeface="Calibri"/>
              </a:rPr>
              <a:t>One-shot capture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40699" y="397764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  <a:latin typeface="Calibri"/>
              </a:rPr>
              <a:t>no filtering needed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0699" y="4434840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ADE80"/>
                </a:solidFill>
                <a:latin typeface="Calibri"/>
              </a:rPr>
              <a:t>Geo-tagged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0699" y="475488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  <a:latin typeface="Calibri"/>
              </a:rPr>
              <a:t>current GPS at moment of capture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0699" y="5212080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ADE80"/>
                </a:solidFill>
                <a:latin typeface="Calibri"/>
              </a:rPr>
              <a:t>Permission gated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40699" y="553212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  <a:latin typeface="Calibri"/>
              </a:rPr>
              <a:t>Exit dialog if denied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2636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71717A"/>
                </a:solidFill>
                <a:latin typeface="Calibri"/>
              </a:rPr>
              <a:t>Filtering is a course requirement; the implementation is device-agnostic so it works on any phone, including partial-GMS Huawei.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1717A"/>
                </a:solidFill>
                <a:latin typeface="Calibri"/>
              </a:rPr>
              <a:t>TravelTrace · CASA0015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14255" y="65379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1717A"/>
                </a:solidFill>
                <a:latin typeface="Calibri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2862072" cy="292608"/>
          </a:xfrm>
          <a:prstGeom prst="roundRect">
            <a:avLst>
              <a:gd name="adj" fmla="val 50000"/>
            </a:avLst>
          </a:prstGeom>
          <a:solidFill>
            <a:srgbClr val="0A0A0B"/>
          </a:solidFill>
          <a:ln w="9525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286207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4ADE80"/>
                </a:solidFill>
                <a:latin typeface="Calibri"/>
              </a:rPr>
              <a:t>TECHNICAL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AFAFA"/>
                </a:solidFill>
                <a:latin typeface="Calibri"/>
              </a:rPr>
              <a:t>Three external services, one design rule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3435" y="2377440"/>
            <a:ext cx="3611880" cy="3291840"/>
          </a:xfrm>
          <a:prstGeom prst="roundRect">
            <a:avLst>
              <a:gd name="adj" fmla="val 4000"/>
            </a:avLst>
          </a:prstGeom>
          <a:solidFill>
            <a:srgbClr val="18181B"/>
          </a:solidFill>
          <a:ln w="9525">
            <a:solidFill>
              <a:srgbClr val="3F3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3435" y="2377440"/>
            <a:ext cx="73152" cy="329184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7755" y="265176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AFAFA"/>
                </a:solidFill>
                <a:latin typeface="Calibri"/>
              </a:rPr>
              <a:t>OpenWeatherMap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7755" y="3154680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71717A"/>
                </a:solidFill>
                <a:latin typeface="Consolas"/>
              </a:rPr>
              <a:t>weather + air_pollution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3475" y="3730752"/>
            <a:ext cx="73152" cy="7315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6355" y="361188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  <a:latin typeface="Calibri"/>
              </a:rPr>
              <a:t>Future.wait parallel fetch (halves latency vs. serial)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3475" y="4325112"/>
            <a:ext cx="73152" cy="7315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6355" y="420624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  <a:latin typeface="Calibri"/>
              </a:rPr>
              <a:t>10 s timeout protects the recording flow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3475" y="4919472"/>
            <a:ext cx="73152" cy="7315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6355" y="480060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  <a:latin typeface="Calibri"/>
              </a:rPr>
              <a:t>Polled every 5 min — not on every GPS update — saves quota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9907" y="2377440"/>
            <a:ext cx="3611880" cy="3291840"/>
          </a:xfrm>
          <a:prstGeom prst="roundRect">
            <a:avLst>
              <a:gd name="adj" fmla="val 4000"/>
            </a:avLst>
          </a:prstGeom>
          <a:solidFill>
            <a:srgbClr val="18181B"/>
          </a:solidFill>
          <a:ln w="9525">
            <a:solidFill>
              <a:srgbClr val="3F3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89907" y="2377440"/>
            <a:ext cx="73152" cy="329184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4227" y="265176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AFAFA"/>
                </a:solidFill>
                <a:latin typeface="Calibri"/>
              </a:rPr>
              <a:t>Firebase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4227" y="3154680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71717A"/>
                </a:solidFill>
                <a:latin typeface="Consolas"/>
              </a:rPr>
              <a:t>Anonymous Auth + Firestore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09947" y="3730752"/>
            <a:ext cx="73152" cy="7315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92827" y="361188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  <a:latin typeface="Calibri"/>
              </a:rPr>
              <a:t>Per-device identity, no sign-up flow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09947" y="4325112"/>
            <a:ext cx="73152" cy="7315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92827" y="420624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  <a:latin typeface="Calibri"/>
              </a:rPr>
              <a:t>Security rule scopes to  request.auth.uid == userId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09947" y="4919472"/>
            <a:ext cx="73152" cy="7315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92827" y="480060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  <a:latin typeface="Calibri"/>
              </a:rPr>
              <a:t>Track points chunked at 400 ops/batch (Firestore caps WriteBatch at 500)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66379" y="2377440"/>
            <a:ext cx="3611880" cy="3291840"/>
          </a:xfrm>
          <a:prstGeom prst="roundRect">
            <a:avLst>
              <a:gd name="adj" fmla="val 4000"/>
            </a:avLst>
          </a:prstGeom>
          <a:solidFill>
            <a:srgbClr val="18181B"/>
          </a:solidFill>
          <a:ln w="9525">
            <a:solidFill>
              <a:srgbClr val="3F3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66379" y="2377440"/>
            <a:ext cx="73152" cy="329184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40699" y="265176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AFAFA"/>
                </a:solidFill>
                <a:latin typeface="Calibri"/>
              </a:rPr>
              <a:t>Google Maps SDK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0699" y="3154680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71717A"/>
                </a:solidFill>
                <a:latin typeface="Consolas"/>
              </a:rPr>
              <a:t>tiles + custom rendering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86419" y="3730752"/>
            <a:ext cx="73152" cy="7315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69299" y="361188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  <a:latin typeface="Calibri"/>
              </a:rPr>
              <a:t>Polyline white-outlined for satellite-view contrast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86419" y="4325112"/>
            <a:ext cx="73152" cy="7315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69299" y="420624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  <a:latin typeface="Calibri"/>
              </a:rPr>
              <a:t>BitmapDescriptor.bytes via PictureRecorder (compass-aware marker)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86419" y="4919472"/>
            <a:ext cx="73152" cy="7315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69299" y="480060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  <a:latin typeface="Calibri"/>
              </a:rPr>
              <a:t>Z-indexed walked vs. remaining route during replay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897880"/>
            <a:ext cx="11094415" cy="548640"/>
          </a:xfrm>
          <a:prstGeom prst="roundRect">
            <a:avLst>
              <a:gd name="adj" fmla="val 10000"/>
            </a:avLst>
          </a:prstGeom>
          <a:solidFill>
            <a:srgbClr val="18181B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589788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  <a:latin typeface="Calibri"/>
              </a:rPr>
              <a:t>Design rule: </a:t>
            </a:r>
          </a:p>
          <a:p>
            <a:pPr algn="l"/>
            <a:r>
              <a:rPr sz="1300" b="0" i="0">
                <a:solidFill>
                  <a:srgbClr val="FAFAFA"/>
                </a:solidFill>
                <a:latin typeface="Calibri"/>
              </a:rPr>
              <a:t>API failure never blocks local recording — every call is wrapped, errors logged once per session, journey still saves to SQLite.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1717A"/>
                </a:solidFill>
                <a:latin typeface="Calibri"/>
              </a:rPr>
              <a:t>TravelTrace · CASA0015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14255" y="65379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1717A"/>
                </a:solidFill>
                <a:latin typeface="Calibri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911095" cy="292608"/>
          </a:xfrm>
          <a:prstGeom prst="roundRect">
            <a:avLst>
              <a:gd name="adj" fmla="val 50000"/>
            </a:avLst>
          </a:prstGeom>
          <a:solidFill>
            <a:srgbClr val="0A0A0B"/>
          </a:solidFill>
          <a:ln w="9525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911095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4ADE80"/>
                </a:solidFill>
                <a:latin typeface="Calibri"/>
              </a:rPr>
              <a:t>DATA HANDLING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AFAFA"/>
                </a:solidFill>
                <a:latin typeface="Calibri"/>
              </a:rPr>
              <a:t>Local is the source of truth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68880"/>
            <a:ext cx="5364327" cy="3566160"/>
          </a:xfrm>
          <a:prstGeom prst="roundRect">
            <a:avLst>
              <a:gd name="adj" fmla="val 4000"/>
            </a:avLst>
          </a:prstGeom>
          <a:solidFill>
            <a:srgbClr val="18181B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1783080" cy="292608"/>
          </a:xfrm>
          <a:prstGeom prst="roundRect">
            <a:avLst>
              <a:gd name="adj" fmla="val 50000"/>
            </a:avLst>
          </a:prstGeom>
          <a:solidFill>
            <a:srgbClr val="0A0A0B"/>
          </a:solidFill>
          <a:ln w="9525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1783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4ADE80"/>
                </a:solidFill>
                <a:latin typeface="Calibri"/>
              </a:rPr>
              <a:t>SOURCE OF TRUTH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48156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AFAFA"/>
                </a:solidFill>
                <a:latin typeface="Calibri"/>
              </a:rPr>
              <a:t>SQLite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94760"/>
            <a:ext cx="48156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71717A"/>
                </a:solidFill>
                <a:latin typeface="Consolas"/>
              </a:rPr>
              <a:t>sqflite + onUpgrade migration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4416552"/>
            <a:ext cx="73152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297680"/>
            <a:ext cx="45870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A1A1AA"/>
                </a:solidFill>
                <a:latin typeface="Calibri"/>
              </a:rPr>
              <a:t>Three tables: trips · track_points · photos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4800600"/>
            <a:ext cx="73152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681728"/>
            <a:ext cx="45870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A1A1AA"/>
                </a:solidFill>
                <a:latin typeface="Calibri"/>
              </a:rPr>
              <a:t>Plus weather_records (schema v2, FK cascade)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5184648"/>
            <a:ext cx="73152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065776"/>
            <a:ext cx="45870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A1A1AA"/>
                </a:solidFill>
                <a:latin typeface="Calibri"/>
              </a:rPr>
              <a:t>Transactional saveTrip — atomic across all 4 tables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5568696"/>
            <a:ext cx="73152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5449824"/>
            <a:ext cx="45870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A1A1AA"/>
                </a:solidFill>
                <a:latin typeface="Calibri"/>
              </a:rPr>
              <a:t>Schema v2 onUpgrade preserves Phase-5 legacy trips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8727" y="2468880"/>
            <a:ext cx="5364327" cy="3566160"/>
          </a:xfrm>
          <a:prstGeom prst="roundRect">
            <a:avLst>
              <a:gd name="adj" fmla="val 4000"/>
            </a:avLst>
          </a:prstGeom>
          <a:solidFill>
            <a:srgbClr val="18181B"/>
          </a:solidFill>
          <a:ln w="9525">
            <a:solidFill>
              <a:srgbClr val="3F3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53047" y="2743200"/>
            <a:ext cx="1874519" cy="292608"/>
          </a:xfrm>
          <a:prstGeom prst="roundRect">
            <a:avLst>
              <a:gd name="adj" fmla="val 50000"/>
            </a:avLst>
          </a:prstGeom>
          <a:solidFill>
            <a:srgbClr val="0A0A0B"/>
          </a:solidFill>
          <a:ln w="9525">
            <a:solidFill>
              <a:srgbClr val="7171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047" y="2743200"/>
            <a:ext cx="187451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71717A"/>
                </a:solidFill>
                <a:latin typeface="Calibri"/>
              </a:rPr>
              <a:t>BEST-EFFORT MIRROR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047" y="3246120"/>
            <a:ext cx="48156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AFAFA"/>
                </a:solidFill>
                <a:latin typeface="Calibri"/>
              </a:rPr>
              <a:t>Firestore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3047" y="3794760"/>
            <a:ext cx="48156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71717A"/>
                </a:solidFill>
                <a:latin typeface="Consolas"/>
              </a:rPr>
              <a:t>Firebase Anonymous Auth + cloud_firestore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98767" y="4416552"/>
            <a:ext cx="73152" cy="73152"/>
          </a:xfrm>
          <a:prstGeom prst="rect">
            <a:avLst/>
          </a:prstGeom>
          <a:solidFill>
            <a:srgbClr val="717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81647" y="4297680"/>
            <a:ext cx="45870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A1A1AA"/>
                </a:solidFill>
                <a:latin typeface="Calibri"/>
              </a:rPr>
              <a:t>One-way upload after every saveTrip / deleteTrip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98767" y="4800600"/>
            <a:ext cx="73152" cy="73152"/>
          </a:xfrm>
          <a:prstGeom prst="rect">
            <a:avLst/>
          </a:prstGeom>
          <a:solidFill>
            <a:srgbClr val="717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81647" y="4681728"/>
            <a:ext cx="45870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A1A1AA"/>
                </a:solidFill>
                <a:latin typeface="Calibri"/>
              </a:rPr>
              <a:t>unawaited(syncTrip) — cloud failure ≠ local failure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98767" y="5184648"/>
            <a:ext cx="73152" cy="73152"/>
          </a:xfrm>
          <a:prstGeom prst="rect">
            <a:avLst/>
          </a:prstGeom>
          <a:solidFill>
            <a:srgbClr val="717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81647" y="5065776"/>
            <a:ext cx="45870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A1A1AA"/>
                </a:solidFill>
                <a:latin typeface="Calibri"/>
              </a:rPr>
              <a:t>Errors logged via debugPrint, never shown to user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98767" y="5568696"/>
            <a:ext cx="73152" cy="73152"/>
          </a:xfrm>
          <a:prstGeom prst="rect">
            <a:avLst/>
          </a:prstGeom>
          <a:solidFill>
            <a:srgbClr val="717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81647" y="5449824"/>
            <a:ext cx="45870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A1A1AA"/>
                </a:solidFill>
                <a:latin typeface="Calibri"/>
              </a:rPr>
              <a:t>Auth uid scopes the security rule (per-user partition)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2636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71717A"/>
                </a:solidFill>
                <a:latin typeface="Calibri"/>
              </a:rPr>
              <a:t>Trips survive offline, restart, and reinstall (with cloud).  Field-tested on a Huawei device with patchy GMS.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1717A"/>
                </a:solidFill>
                <a:latin typeface="Calibri"/>
              </a:rPr>
              <a:t>TravelTrace · CASA0015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14255" y="65379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1717A"/>
                </a:solidFill>
                <a:latin typeface="Calibri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0A0A0B"/>
          </a:solidFill>
          <a:ln w="9525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2148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4ADE80"/>
                </a:solidFill>
                <a:latin typeface="Calibri"/>
              </a:rPr>
              <a:t>INTERACTIVITY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AFAFA"/>
                </a:solidFill>
                <a:latin typeface="Calibri"/>
              </a:rPr>
              <a:t>The recording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63927" y="2286000"/>
            <a:ext cx="2377440" cy="3474720"/>
          </a:xfrm>
          <a:prstGeom prst="roundRect">
            <a:avLst>
              <a:gd name="adj" fmla="val 4000"/>
            </a:avLst>
          </a:prstGeom>
          <a:solidFill>
            <a:srgbClr val="09090B"/>
          </a:solidFill>
          <a:ln w="19050">
            <a:solidFill>
              <a:srgbClr val="3F3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3927" y="2286000"/>
            <a:ext cx="2377440" cy="3474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71717A"/>
                </a:solidFill>
                <a:latin typeface="Consolas"/>
              </a:rPr>
              <a:t>[INSERT REAL SCREENSHOT HERE]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3927" y="59436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4ADE80"/>
                </a:solidFill>
                <a:latin typeface="Calibri"/>
              </a:rPr>
              <a:t>01  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3927" y="635508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  <a:latin typeface="Calibri"/>
              </a:rPr>
              <a:t>Live polyline draws as the user walks.  Compass-aware marker, dual-gate filter.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07127" y="2286000"/>
            <a:ext cx="2377440" cy="3474720"/>
          </a:xfrm>
          <a:prstGeom prst="roundRect">
            <a:avLst>
              <a:gd name="adj" fmla="val 4000"/>
            </a:avLst>
          </a:prstGeom>
          <a:solidFill>
            <a:srgbClr val="09090B"/>
          </a:solidFill>
          <a:ln w="19050">
            <a:solidFill>
              <a:srgbClr val="3F3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07127" y="2286000"/>
            <a:ext cx="2377440" cy="3474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71717A"/>
                </a:solidFill>
                <a:latin typeface="Consolas"/>
              </a:rPr>
              <a:t>[INSERT REAL SCREENSHOT HERE]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07127" y="59436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4ADE80"/>
                </a:solidFill>
                <a:latin typeface="Calibri"/>
              </a:rPr>
              <a:t>02  Capture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635508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  <a:latin typeface="Calibri"/>
              </a:rPr>
              <a:t>Camera button at thumb's reach.  Marker drops at the GPS coord.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50327" y="2286000"/>
            <a:ext cx="2377440" cy="3474720"/>
          </a:xfrm>
          <a:prstGeom prst="roundRect">
            <a:avLst>
              <a:gd name="adj" fmla="val 4000"/>
            </a:avLst>
          </a:prstGeom>
          <a:solidFill>
            <a:srgbClr val="09090B"/>
          </a:solidFill>
          <a:ln w="19050">
            <a:solidFill>
              <a:srgbClr val="3F3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50327" y="2286000"/>
            <a:ext cx="2377440" cy="3474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71717A"/>
                </a:solidFill>
                <a:latin typeface="Consolas"/>
              </a:rPr>
              <a:t>[INSERT REAL SCREENSHOT HERE]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50327" y="59436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4ADE80"/>
                </a:solidFill>
                <a:latin typeface="Calibri"/>
              </a:rPr>
              <a:t>03  Stop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50327" y="635508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  <a:latin typeface="Calibri"/>
              </a:rPr>
              <a:t>Confirmation dialog protects the trip.  SnackBar reports the count.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71717A"/>
                </a:solidFill>
                <a:latin typeface="Calibri"/>
              </a:rPr>
              <a:t>Permission UX collapses to a single Exit dialog — the app cannot function without GPS/camera, so any other branch is theatre.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1717A"/>
                </a:solidFill>
                <a:latin typeface="Calibri"/>
              </a:rPr>
              <a:t>TravelTrace · CASA0015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14255" y="65379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1717A"/>
                </a:solidFill>
                <a:latin typeface="Calibri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4882896" cy="292608"/>
          </a:xfrm>
          <a:prstGeom prst="roundRect">
            <a:avLst>
              <a:gd name="adj" fmla="val 50000"/>
            </a:avLst>
          </a:prstGeom>
          <a:solidFill>
            <a:srgbClr val="0A0A0B"/>
          </a:solidFill>
          <a:ln w="9525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48828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4ADE80"/>
                </a:solidFill>
                <a:latin typeface="Calibri"/>
              </a:rPr>
              <a:t>INTERACTIVITY II  ·  SIGNATURE FEATURE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AFAFA"/>
                </a:solidFill>
                <a:latin typeface="Calibri"/>
              </a:rPr>
              <a:t>Trip replay — the emotional payoff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2743200" cy="4023360"/>
          </a:xfrm>
          <a:prstGeom prst="roundRect">
            <a:avLst>
              <a:gd name="adj" fmla="val 4000"/>
            </a:avLst>
          </a:prstGeom>
          <a:solidFill>
            <a:srgbClr val="09090B"/>
          </a:solidFill>
          <a:ln w="19050">
            <a:solidFill>
              <a:srgbClr val="3F3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2743200" cy="402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71717A"/>
                </a:solidFill>
                <a:latin typeface="Consolas"/>
              </a:rPr>
              <a:t>[INSERT REPLAY SCREENSHOT HERE]</a:t>
            </a:r>
          </a:p>
        </p:txBody>
      </p:sp>
      <p:sp>
        <p:nvSpPr>
          <p:cNvPr id="8" name="Rectangle 7"/>
          <p:cNvSpPr/>
          <p:nvPr/>
        </p:nvSpPr>
        <p:spPr>
          <a:xfrm>
            <a:off x="3749040" y="2542032"/>
            <a:ext cx="73152" cy="7315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77640" y="2377440"/>
            <a:ext cx="7665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AFAFA"/>
                </a:solidFill>
                <a:latin typeface="Calibri"/>
              </a:rPr>
              <a:t>Slider scrub  +  tri-state IconButton.filled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40" y="2706624"/>
            <a:ext cx="7665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  <a:latin typeface="Calibri"/>
              </a:rPr>
              <a:t>play / pause / replay — the same control surface adapts to playback state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40" y="3319272"/>
            <a:ext cx="73152" cy="7315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77640" y="3154680"/>
            <a:ext cx="7665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AFAFA"/>
                </a:solidFill>
                <a:latin typeface="Calibri"/>
              </a:rPr>
              <a:t>SegmentedButton&lt;double&gt;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40" y="3483864"/>
            <a:ext cx="7665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  <a:latin typeface="Calibri"/>
              </a:rPr>
              <a:t>1×  ·  5×  ·  10×  ·  30× speeds — Material 3 component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9040" y="4096512"/>
            <a:ext cx="73152" cy="7315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77640" y="3931920"/>
            <a:ext cx="7665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AFAFA"/>
                </a:solidFill>
                <a:latin typeface="Calibri"/>
              </a:rPr>
              <a:t>Polyline splits at the cursor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40" y="4261104"/>
            <a:ext cx="7665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  <a:latin typeface="Calibri"/>
              </a:rPr>
              <a:t>walked = full alpha,  remaining = α 0.3 — visual progress without a separate widget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40" y="4873752"/>
            <a:ext cx="73152" cy="7315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77640" y="4709160"/>
            <a:ext cx="7665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AFAFA"/>
                </a:solidFill>
                <a:latin typeface="Calibri"/>
              </a:rPr>
              <a:t>Photos auto-surface as floating cards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40" y="5038344"/>
            <a:ext cx="7665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  <a:latin typeface="Calibri"/>
              </a:rPr>
              <a:t>AnimatedSwitcher 300 ms fade + scale; trigger when cursor enters timestamp ± 5 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49040" y="5650992"/>
            <a:ext cx="73152" cy="7315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77640" y="5486400"/>
            <a:ext cx="7665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AFAFA"/>
                </a:solidFill>
                <a:latin typeface="Calibri"/>
              </a:rPr>
              <a:t>Clock derived from continuous progress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40" y="5815584"/>
            <a:ext cx="7665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  <a:latin typeface="Calibri"/>
              </a:rPr>
              <a:t>not the rounded track-point index — fixes drift on sparse trips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1717A"/>
                </a:solidFill>
                <a:latin typeface="Calibri"/>
              </a:rPr>
              <a:t>TravelTrace · CASA0015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14255" y="65379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1717A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0A0A0B"/>
          </a:solidFill>
          <a:ln w="9525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2148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4ADE80"/>
                </a:solidFill>
                <a:latin typeface="Calibri"/>
              </a:rPr>
              <a:t>WIDGET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AFAFA"/>
                </a:solidFill>
                <a:latin typeface="Calibri"/>
              </a:rPr>
              <a:t>30% rubric — diversity of compelling Flutter widgets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5410047" cy="1874519"/>
          </a:xfrm>
          <a:prstGeom prst="roundRect">
            <a:avLst>
              <a:gd name="adj" fmla="val 4000"/>
            </a:avLst>
          </a:prstGeom>
          <a:solidFill>
            <a:srgbClr val="18181B"/>
          </a:solidFill>
          <a:ln w="9525">
            <a:solidFill>
              <a:srgbClr val="3F3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73152" cy="1874519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48614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AFAFA"/>
                </a:solidFill>
                <a:latin typeface="Calibri"/>
              </a:rPr>
              <a:t>Custom animations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26080"/>
            <a:ext cx="486140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  <a:latin typeface="Calibri"/>
              </a:rPr>
              <a:t>·  </a:t>
            </a:r>
          </a:p>
          <a:p>
            <a:pPr algn="l"/>
            <a:r>
              <a:rPr sz="1100" b="0" i="0">
                <a:solidFill>
                  <a:srgbClr val="A1A1AA"/>
                </a:solidFill>
                <a:latin typeface="Calibri"/>
              </a:rPr>
              <a:t>AnimationController driving 3-layer Splash (fade + slide + scale)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18688"/>
            <a:ext cx="486140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  <a:latin typeface="Calibri"/>
              </a:rPr>
              <a:t>·  </a:t>
            </a:r>
          </a:p>
          <a:p>
            <a:pPr algn="l"/>
            <a:r>
              <a:rPr sz="1100" b="0" i="0">
                <a:solidFill>
                  <a:srgbClr val="A1A1AA"/>
                </a:solidFill>
                <a:latin typeface="Calibri"/>
              </a:rPr>
              <a:t>AnimatedSwitcher photo card (300 ms fade + scale)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511296"/>
            <a:ext cx="486140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  <a:latin typeface="Calibri"/>
              </a:rPr>
              <a:t>·  </a:t>
            </a:r>
          </a:p>
          <a:p>
            <a:pPr algn="l"/>
            <a:r>
              <a:rPr sz="1100" b="0" i="0">
                <a:solidFill>
                  <a:srgbClr val="A1A1AA"/>
                </a:solidFill>
                <a:latin typeface="Calibri"/>
              </a:rPr>
              <a:t>PageRouteBuilder fade for Splash → 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803904"/>
            <a:ext cx="486140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  <a:latin typeface="Calibri"/>
              </a:rPr>
              <a:t>·  </a:t>
            </a:r>
          </a:p>
          <a:p>
            <a:pPr algn="l"/>
            <a:r>
              <a:rPr sz="1100" b="0" i="0">
                <a:solidFill>
                  <a:srgbClr val="A1A1AA"/>
                </a:solidFill>
                <a:latin typeface="Calibri"/>
              </a:rPr>
              <a:t>Pulsing recording indicator on the status bar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2286000"/>
            <a:ext cx="5410047" cy="1874519"/>
          </a:xfrm>
          <a:prstGeom prst="roundRect">
            <a:avLst>
              <a:gd name="adj" fmla="val 4000"/>
            </a:avLst>
          </a:prstGeom>
          <a:solidFill>
            <a:srgbClr val="18181B"/>
          </a:solidFill>
          <a:ln w="9525">
            <a:solidFill>
              <a:srgbClr val="3F3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3007" y="2286000"/>
            <a:ext cx="73152" cy="1874519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7327" y="2468880"/>
            <a:ext cx="48614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AFAFA"/>
                </a:solidFill>
                <a:latin typeface="Calibri"/>
              </a:rPr>
              <a:t>Gesture recognition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487" y="2926080"/>
            <a:ext cx="486140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  <a:latin typeface="Calibri"/>
              </a:rPr>
              <a:t>·  </a:t>
            </a:r>
          </a:p>
          <a:p>
            <a:pPr algn="l"/>
            <a:r>
              <a:rPr sz="1100" b="0" i="0">
                <a:solidFill>
                  <a:srgbClr val="A1A1AA"/>
                </a:solidFill>
                <a:latin typeface="Calibri"/>
              </a:rPr>
              <a:t>GestureDetector on Home Start CTA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4487" y="3218688"/>
            <a:ext cx="486140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  <a:latin typeface="Calibri"/>
              </a:rPr>
              <a:t>·  </a:t>
            </a:r>
          </a:p>
          <a:p>
            <a:pPr algn="l"/>
            <a:r>
              <a:rPr sz="1100" b="0" i="0">
                <a:solidFill>
                  <a:srgbClr val="A1A1AA"/>
                </a:solidFill>
                <a:latin typeface="Calibri"/>
              </a:rPr>
              <a:t>InkWell ripple on every list and card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4487" y="3511296"/>
            <a:ext cx="486140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  <a:latin typeface="Calibri"/>
              </a:rPr>
              <a:t>·  </a:t>
            </a:r>
          </a:p>
          <a:p>
            <a:pPr algn="l"/>
            <a:r>
              <a:rPr sz="1100" b="0" i="0">
                <a:solidFill>
                  <a:srgbClr val="A1A1AA"/>
                </a:solidFill>
                <a:latin typeface="Calibri"/>
              </a:rPr>
              <a:t>DraggableScrollableSheet drag for photo preview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4487" y="3803904"/>
            <a:ext cx="486140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  <a:latin typeface="Calibri"/>
              </a:rPr>
              <a:t>·  </a:t>
            </a:r>
          </a:p>
          <a:p>
            <a:pPr algn="l"/>
            <a:r>
              <a:rPr sz="1100" b="0" i="0">
                <a:solidFill>
                  <a:srgbClr val="A1A1AA"/>
                </a:solidFill>
                <a:latin typeface="Calibri"/>
              </a:rPr>
              <a:t>Slider scrub during replay; pull-to-refresh on History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434839"/>
            <a:ext cx="5410047" cy="1874519"/>
          </a:xfrm>
          <a:prstGeom prst="roundRect">
            <a:avLst>
              <a:gd name="adj" fmla="val 4000"/>
            </a:avLst>
          </a:prstGeom>
          <a:solidFill>
            <a:srgbClr val="18181B"/>
          </a:solidFill>
          <a:ln w="9525">
            <a:solidFill>
              <a:srgbClr val="3F3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434839"/>
            <a:ext cx="73152" cy="1874519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617719"/>
            <a:ext cx="48614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AFAFA"/>
                </a:solidFill>
                <a:latin typeface="Calibri"/>
              </a:rPr>
              <a:t>Material 3 components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074919"/>
            <a:ext cx="486140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  <a:latin typeface="Calibri"/>
              </a:rPr>
              <a:t>·  </a:t>
            </a:r>
          </a:p>
          <a:p>
            <a:pPr algn="l"/>
            <a:r>
              <a:rPr sz="1100" b="0" i="0">
                <a:solidFill>
                  <a:srgbClr val="A1A1AA"/>
                </a:solidFill>
                <a:latin typeface="Calibri"/>
              </a:rPr>
              <a:t>NavigationBar with selected/unselected variants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367527"/>
            <a:ext cx="486140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  <a:latin typeface="Calibri"/>
              </a:rPr>
              <a:t>·  </a:t>
            </a:r>
          </a:p>
          <a:p>
            <a:pPr algn="l"/>
            <a:r>
              <a:rPr sz="1100" b="0" i="0">
                <a:solidFill>
                  <a:srgbClr val="A1A1AA"/>
                </a:solidFill>
                <a:latin typeface="Calibri"/>
              </a:rPr>
              <a:t>SegmentedButton&lt;double&gt; for replay speed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660135"/>
            <a:ext cx="486140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  <a:latin typeface="Calibri"/>
              </a:rPr>
              <a:t>·  </a:t>
            </a:r>
          </a:p>
          <a:p>
            <a:pPr algn="l"/>
            <a:r>
              <a:rPr sz="1100" b="0" i="0">
                <a:solidFill>
                  <a:srgbClr val="A1A1AA"/>
                </a:solidFill>
                <a:latin typeface="Calibri"/>
              </a:rPr>
              <a:t>IconButton.filled (tri-state play/pause/replay)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952743"/>
            <a:ext cx="486140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  <a:latin typeface="Calibri"/>
              </a:rPr>
              <a:t>·  </a:t>
            </a:r>
          </a:p>
          <a:p>
            <a:pPr algn="l"/>
            <a:r>
              <a:rPr sz="1100" b="0" i="0">
                <a:solidFill>
                  <a:srgbClr val="A1A1AA"/>
                </a:solidFill>
                <a:latin typeface="Calibri"/>
              </a:rPr>
              <a:t>FilledButton  ·  OutlinedButton  ·  FilterChip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3007" y="4434839"/>
            <a:ext cx="5410047" cy="1874519"/>
          </a:xfrm>
          <a:prstGeom prst="roundRect">
            <a:avLst>
              <a:gd name="adj" fmla="val 4000"/>
            </a:avLst>
          </a:prstGeom>
          <a:solidFill>
            <a:srgbClr val="18181B"/>
          </a:solidFill>
          <a:ln w="9525">
            <a:solidFill>
              <a:srgbClr val="3F3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3007" y="4434839"/>
            <a:ext cx="73152" cy="1874519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07327" y="4617719"/>
            <a:ext cx="48614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AFAFA"/>
                </a:solidFill>
                <a:latin typeface="Calibri"/>
              </a:rPr>
              <a:t>Custom rendering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4487" y="5074919"/>
            <a:ext cx="486140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  <a:latin typeface="Calibri"/>
              </a:rPr>
              <a:t>·  </a:t>
            </a:r>
          </a:p>
          <a:p>
            <a:pPr algn="l"/>
            <a:r>
              <a:rPr sz="1100" b="0" i="0">
                <a:solidFill>
                  <a:srgbClr val="A1A1AA"/>
                </a:solidFill>
                <a:latin typeface="Calibri"/>
              </a:rPr>
              <a:t>BitmapDescriptor.bytes via PictureRecorder + Canvas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44487" y="5367527"/>
            <a:ext cx="486140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  <a:latin typeface="Calibri"/>
              </a:rPr>
              <a:t>·  </a:t>
            </a:r>
          </a:p>
          <a:p>
            <a:pPr algn="l"/>
            <a:r>
              <a:rPr sz="1100" b="0" i="0">
                <a:solidFill>
                  <a:srgbClr val="A1A1AA"/>
                </a:solidFill>
                <a:latin typeface="Calibri"/>
              </a:rPr>
              <a:t>Heading-aware compass marker (own SVG-style draw)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44487" y="5660135"/>
            <a:ext cx="486140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  <a:latin typeface="Calibri"/>
              </a:rPr>
              <a:t>·  </a:t>
            </a:r>
          </a:p>
          <a:p>
            <a:pPr algn="l"/>
            <a:r>
              <a:rPr sz="1100" b="0" i="0">
                <a:solidFill>
                  <a:srgbClr val="A1A1AA"/>
                </a:solidFill>
                <a:latin typeface="Calibri"/>
              </a:rPr>
              <a:t>Z-indexed split-colour Polyline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44487" y="5952743"/>
            <a:ext cx="486140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  <a:latin typeface="Calibri"/>
              </a:rPr>
              <a:t>·  </a:t>
            </a:r>
          </a:p>
          <a:p>
            <a:pPr algn="l"/>
            <a:r>
              <a:rPr sz="1100" b="0" i="0">
                <a:solidFill>
                  <a:srgbClr val="A1A1AA"/>
                </a:solidFill>
                <a:latin typeface="Calibri"/>
              </a:rPr>
              <a:t>LatLngBounds auto-fit on first load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71717A"/>
                </a:solidFill>
                <a:latin typeface="Calibri"/>
              </a:rPr>
              <a:t>All widgets hand-coded — no automated UI builder.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1717A"/>
                </a:solidFill>
                <a:latin typeface="Calibri"/>
              </a:rPr>
              <a:t>TravelTrace · CASA0015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14255" y="65379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1717A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2505456" cy="292608"/>
          </a:xfrm>
          <a:prstGeom prst="roundRect">
            <a:avLst>
              <a:gd name="adj" fmla="val 50000"/>
            </a:avLst>
          </a:prstGeom>
          <a:solidFill>
            <a:srgbClr val="0A0A0B"/>
          </a:solidFill>
          <a:ln w="9525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250545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4ADE80"/>
                </a:solidFill>
                <a:latin typeface="Calibri"/>
              </a:rPr>
              <a:t>DEMO  ·  3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AFAFA"/>
                </a:solidFill>
                <a:latin typeface="Calibri"/>
              </a:rPr>
              <a:t>See it in 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31720"/>
            <a:ext cx="11094415" cy="3383280"/>
          </a:xfrm>
          <a:prstGeom prst="roundRect">
            <a:avLst>
              <a:gd name="adj" fmla="val 4000"/>
            </a:avLst>
          </a:prstGeom>
          <a:solidFill>
            <a:srgbClr val="09090B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1094415" cy="3383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2800" b="1" i="0">
                <a:solidFill>
                  <a:srgbClr val="FAFAFA"/>
                </a:solidFill>
                <a:latin typeface="Consolas"/>
              </a:rPr>
              <a:t>[INSERT 3-MIN DEMO VIDEO HERE]</a:t>
            </a:r>
          </a:p>
          <a:p>
            <a:pPr algn="ctr"/>
            <a:r>
              <a:rPr sz="1300" b="0" i="1">
                <a:solidFill>
                  <a:srgbClr val="71717A"/>
                </a:solidFill>
                <a:latin typeface="Calibri"/>
              </a:rPr>
              <a:t>Recorded on Huawei EML-AL00 device  ·  HarmonyOS 3.0  ·  Android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AFAFA"/>
                </a:solidFill>
                <a:latin typeface="Calibri"/>
              </a:rPr>
              <a:t>Demo follows the user-testing scenario:  </a:t>
            </a:r>
          </a:p>
          <a:p>
            <a:pPr algn="l"/>
            <a:r>
              <a:rPr sz="1300" b="1" i="0">
                <a:solidFill>
                  <a:srgbClr val="4ADE80"/>
                </a:solidFill>
                <a:latin typeface="Consolas"/>
              </a:rPr>
              <a:t>record  →  capture photo  →  stop  →  open trip  →  scrub replay  →  watch photo surface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1717A"/>
                </a:solidFill>
                <a:latin typeface="Calibri"/>
              </a:rPr>
              <a:t>TravelTrace · CASA0015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255" y="65379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1717A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0A0A0B"/>
          </a:solidFill>
          <a:ln w="9525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4ADE80"/>
                </a:solidFill>
                <a:latin typeface="Calibri"/>
              </a:rPr>
              <a:t>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AFAFA"/>
                </a:solidFill>
                <a:latin typeface="Calibri"/>
              </a:rPr>
              <a:t>Polyline jitter on a Huawei device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31720"/>
            <a:ext cx="3515258" cy="3657600"/>
          </a:xfrm>
          <a:prstGeom prst="roundRect">
            <a:avLst>
              <a:gd name="adj" fmla="val 4000"/>
            </a:avLst>
          </a:prstGeom>
          <a:solidFill>
            <a:srgbClr val="18181B"/>
          </a:solidFill>
          <a:ln w="9525">
            <a:solidFill>
              <a:srgbClr val="3F3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60604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0A0A0B"/>
          </a:solidFill>
          <a:ln w="952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97316"/>
                </a:solidFill>
                <a:latin typeface="Calibri"/>
              </a:rPr>
              <a:t>01  PHENOMENON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296661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AFAFA"/>
                </a:solidFill>
                <a:latin typeface="Calibri"/>
              </a:rPr>
              <a:t>Phenomenon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11880"/>
            <a:ext cx="296661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71717A"/>
                </a:solidFill>
                <a:latin typeface="Calibri"/>
              </a:rPr>
              <a:t>On Huawei EML-AL00 (HarmonyOS 3.0), two issues appeared during a real-world walk: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4416552"/>
            <a:ext cx="73152" cy="7315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297680"/>
            <a:ext cx="273801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  <a:latin typeface="Calibri"/>
              </a:rPr>
              <a:t>Polyline teleported tens of metres on a clear-sky walk and snapped back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5193792"/>
            <a:ext cx="73152" cy="7315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5074920"/>
            <a:ext cx="273801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  <a:latin typeface="Calibri"/>
              </a:rPr>
              <a:t>Self-marker stayed frozen until the user pressed Start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8218" y="2331720"/>
            <a:ext cx="3515258" cy="3657600"/>
          </a:xfrm>
          <a:prstGeom prst="roundRect">
            <a:avLst>
              <a:gd name="adj" fmla="val 4000"/>
            </a:avLst>
          </a:prstGeom>
          <a:solidFill>
            <a:srgbClr val="18181B"/>
          </a:solidFill>
          <a:ln w="9525">
            <a:solidFill>
              <a:srgbClr val="3F3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12538" y="260604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0A0A0B"/>
          </a:solidFill>
          <a:ln w="9525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2538" y="2606040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4ADE80"/>
                </a:solidFill>
                <a:latin typeface="Calibri"/>
              </a:rPr>
              <a:t>02  ROOT CAUSE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2538" y="3108960"/>
            <a:ext cx="296661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AFAFA"/>
                </a:solidFill>
                <a:latin typeface="Calibri"/>
              </a:rPr>
              <a:t>Root cause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2538" y="3611880"/>
            <a:ext cx="296661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71717A"/>
                </a:solidFill>
                <a:latin typeface="Calibri"/>
              </a:rPr>
              <a:t>Two second-order costs of an earlier workaround: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58258" y="4416552"/>
            <a:ext cx="73152" cy="7315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1138" y="4297680"/>
            <a:ext cx="273801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  <a:latin typeface="Calibri"/>
              </a:rPr>
              <a:t>forceLocationManager on partial-GMS device exposed unfused GPS + NETWORK provider streams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58258" y="5193792"/>
            <a:ext cx="73152" cy="7315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1138" y="5074920"/>
            <a:ext cx="273801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  <a:latin typeface="Calibri"/>
              </a:rPr>
              <a:t>_initLocation only called getCurrentPosition once; live updates subscribed inside _startRecording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27796" y="2331720"/>
            <a:ext cx="3515258" cy="3657600"/>
          </a:xfrm>
          <a:prstGeom prst="roundRect">
            <a:avLst>
              <a:gd name="adj" fmla="val 4000"/>
            </a:avLst>
          </a:prstGeom>
          <a:solidFill>
            <a:srgbClr val="18181B"/>
          </a:solidFill>
          <a:ln w="9525">
            <a:solidFill>
              <a:srgbClr val="3F3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402116" y="260604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0A0A0B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02116" y="2606040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  <a:latin typeface="Calibri"/>
              </a:rPr>
              <a:t>03  RESOLUTION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02116" y="3108960"/>
            <a:ext cx="296661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AFAFA"/>
                </a:solidFill>
                <a:latin typeface="Calibri"/>
              </a:rPr>
              <a:t>Resolution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02116" y="3611880"/>
            <a:ext cx="296661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71717A"/>
                </a:solidFill>
                <a:latin typeface="Calibri"/>
              </a:rPr>
              <a:t>Treat the symptoms at the right layer: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47836" y="4416552"/>
            <a:ext cx="73152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30716" y="4297680"/>
            <a:ext cx="273801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  <a:latin typeface="Calibri"/>
              </a:rPr>
              <a:t>Dual-gate accuracy/speed filter at LocationService level (device-agnostic)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47836" y="5193792"/>
            <a:ext cx="73152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30716" y="5074920"/>
            <a:ext cx="273801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  <a:latin typeface="Calibri"/>
              </a:rPr>
              <a:t>Split startLiveUpdates() (idempotent stream) from startTracking() (just flips _isTracking)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2636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71717A"/>
                </a:solidFill>
                <a:latin typeface="Calibri"/>
              </a:rPr>
              <a:t>Real-device testing drove the architecture — not the other way around.  Six incidents documented in DEVLOG.md.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1717A"/>
                </a:solidFill>
                <a:latin typeface="Calibri"/>
              </a:rPr>
              <a:t>TravelTrace · CASA0015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14255" y="65379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1717A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2862072" cy="292608"/>
          </a:xfrm>
          <a:prstGeom prst="roundRect">
            <a:avLst>
              <a:gd name="adj" fmla="val 50000"/>
            </a:avLst>
          </a:prstGeom>
          <a:solidFill>
            <a:srgbClr val="0A0A0B"/>
          </a:solidFill>
          <a:ln w="9525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286207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4ADE80"/>
                </a:solidFill>
                <a:latin typeface="Calibri"/>
              </a:rPr>
              <a:t>ENGINEERING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AFAFA"/>
                </a:solidFill>
                <a:latin typeface="Calibri"/>
              </a:rPr>
              <a:t>How the project was actually built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68880"/>
            <a:ext cx="2567863" cy="2286000"/>
          </a:xfrm>
          <a:prstGeom prst="roundRect">
            <a:avLst>
              <a:gd name="adj" fmla="val 4000"/>
            </a:avLst>
          </a:prstGeom>
          <a:solidFill>
            <a:srgbClr val="18181B"/>
          </a:solidFill>
          <a:ln w="9525">
            <a:solidFill>
              <a:srgbClr val="3F3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201922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4ADE80"/>
                </a:solidFill>
                <a:latin typeface="Calibri"/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20192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AFAFA"/>
                </a:solidFill>
                <a:latin typeface="Calibri"/>
              </a:rPr>
              <a:t>hand-coded Dart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51960"/>
            <a:ext cx="201922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  <a:latin typeface="Calibri"/>
              </a:rPr>
              <a:t>no automated UI builder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0823" y="2468880"/>
            <a:ext cx="2567863" cy="2286000"/>
          </a:xfrm>
          <a:prstGeom prst="roundRect">
            <a:avLst>
              <a:gd name="adj" fmla="val 4000"/>
            </a:avLst>
          </a:prstGeom>
          <a:solidFill>
            <a:srgbClr val="18181B"/>
          </a:solidFill>
          <a:ln w="9525">
            <a:solidFill>
              <a:srgbClr val="3F3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5143" y="2788920"/>
            <a:ext cx="201922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4ADE80"/>
                </a:solidFill>
                <a:latin typeface="Calibri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5143" y="3840480"/>
            <a:ext cx="20192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AFAFA"/>
                </a:solidFill>
                <a:latin typeface="Calibri"/>
              </a:rPr>
              <a:t>phases shipped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5143" y="4251960"/>
            <a:ext cx="201922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  <a:latin typeface="Calibri"/>
              </a:rPr>
              <a:t>PLAN.md tracks each 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2468880"/>
            <a:ext cx="2567863" cy="2286000"/>
          </a:xfrm>
          <a:prstGeom prst="roundRect">
            <a:avLst>
              <a:gd name="adj" fmla="val 4000"/>
            </a:avLst>
          </a:prstGeom>
          <a:solidFill>
            <a:srgbClr val="18181B"/>
          </a:solidFill>
          <a:ln w="9525">
            <a:solidFill>
              <a:srgbClr val="3F3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7327" y="2788920"/>
            <a:ext cx="201922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4ADE80"/>
                </a:solidFill>
                <a:latin typeface="Calibri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7327" y="3840480"/>
            <a:ext cx="20192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AFAFA"/>
                </a:solidFill>
                <a:latin typeface="Calibri"/>
              </a:rPr>
              <a:t>issues from analyze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7327" y="4251960"/>
            <a:ext cx="201922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  <a:latin typeface="Calibri"/>
              </a:rPr>
              <a:t>lint enforced via analysis_options.yaml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75191" y="2468880"/>
            <a:ext cx="2567863" cy="2286000"/>
          </a:xfrm>
          <a:prstGeom prst="roundRect">
            <a:avLst>
              <a:gd name="adj" fmla="val 4000"/>
            </a:avLst>
          </a:prstGeom>
          <a:solidFill>
            <a:srgbClr val="18181B"/>
          </a:solidFill>
          <a:ln w="9525">
            <a:solidFill>
              <a:srgbClr val="3F3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49511" y="2788920"/>
            <a:ext cx="201922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4ADE80"/>
                </a:solidFill>
                <a:latin typeface="Calibr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49511" y="3840480"/>
            <a:ext cx="20192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AFAFA"/>
                </a:solidFill>
                <a:latin typeface="Calibri"/>
              </a:rPr>
              <a:t>documented case studies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49511" y="4251960"/>
            <a:ext cx="201922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  <a:latin typeface="Calibri"/>
              </a:rPr>
              <a:t>phenomenon  /  root cause  /  resolution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20640"/>
            <a:ext cx="11094415" cy="1280160"/>
          </a:xfrm>
          <a:prstGeom prst="roundRect">
            <a:avLst>
              <a:gd name="adj" fmla="val 4000"/>
            </a:avLst>
          </a:prstGeom>
          <a:solidFill>
            <a:srgbClr val="18181B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285232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4ADE80"/>
                </a:solidFill>
                <a:latin typeface="Calibri"/>
              </a:rPr>
              <a:t>Discipline beyond the rubric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5788152"/>
            <a:ext cx="73152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669280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  <a:latin typeface="Calibri"/>
              </a:rPr>
              <a:t>Material 3 design tokens  (AppRadius / AppSpacing / AppDuration)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5788152"/>
            <a:ext cx="73152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5669280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  <a:latin typeface="Calibri"/>
              </a:rPr>
              <a:t>System-driven dark mode (ThemeMode.system, no toggle)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6117336"/>
            <a:ext cx="73152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5998464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  <a:latin typeface="Calibri"/>
              </a:rPr>
              <a:t>Secrets gitignored — env.json + manifestPlaceholders + firebase_options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6117336"/>
            <a:ext cx="73152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5998464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  <a:latin typeface="Calibri"/>
              </a:rPr>
              <a:t>Firestore security-rule scoped per-user; auth uid checked server-side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1717A"/>
                </a:solidFill>
                <a:latin typeface="Calibri"/>
              </a:rPr>
              <a:t>TravelTrace · CASA0015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5379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1717A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197864" cy="292608"/>
          </a:xfrm>
          <a:prstGeom prst="roundRect">
            <a:avLst>
              <a:gd name="adj" fmla="val 50000"/>
            </a:avLst>
          </a:prstGeom>
          <a:solidFill>
            <a:srgbClr val="0A0A0B"/>
          </a:solidFill>
          <a:ln w="9525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9786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4ADE80"/>
                </a:solidFill>
                <a:latin typeface="Calibri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AFAFA"/>
                </a:solidFill>
                <a:latin typeface="Calibri"/>
              </a:rPr>
              <a:t>If given more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31720"/>
            <a:ext cx="3515258" cy="2468880"/>
          </a:xfrm>
          <a:prstGeom prst="roundRect">
            <a:avLst>
              <a:gd name="adj" fmla="val 4000"/>
            </a:avLst>
          </a:prstGeom>
          <a:solidFill>
            <a:srgbClr val="18181B"/>
          </a:solidFill>
          <a:ln w="9525">
            <a:solidFill>
              <a:srgbClr val="3F3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296661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4ADE80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296661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AFAFA"/>
                </a:solidFill>
                <a:latin typeface="Calibri"/>
              </a:rPr>
              <a:t>Reverse geocoding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9040"/>
            <a:ext cx="296661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A1A1AA"/>
                </a:solidFill>
                <a:latin typeface="Calibri"/>
              </a:rPr>
              <a:t>Trip titles become 'Highbury → Camden' instead of timestamps.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2331720"/>
            <a:ext cx="3515258" cy="2468880"/>
          </a:xfrm>
          <a:prstGeom prst="roundRect">
            <a:avLst>
              <a:gd name="adj" fmla="val 4000"/>
            </a:avLst>
          </a:prstGeom>
          <a:solidFill>
            <a:srgbClr val="18181B"/>
          </a:solidFill>
          <a:ln w="9525">
            <a:solidFill>
              <a:srgbClr val="3F3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2538" y="2606040"/>
            <a:ext cx="296661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4ADE80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2538" y="3200400"/>
            <a:ext cx="296661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AFAFA"/>
                </a:solidFill>
                <a:latin typeface="Calibri"/>
              </a:rPr>
              <a:t>Visual History cards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2538" y="3749040"/>
            <a:ext cx="296661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A1A1AA"/>
                </a:solidFill>
                <a:latin typeface="Calibri"/>
              </a:rPr>
              <a:t>Static map thumbnails or first-photo previews — currently route icons.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2331720"/>
            <a:ext cx="3515258" cy="2468880"/>
          </a:xfrm>
          <a:prstGeom prst="roundRect">
            <a:avLst>
              <a:gd name="adj" fmla="val 4000"/>
            </a:avLst>
          </a:prstGeom>
          <a:solidFill>
            <a:srgbClr val="18181B"/>
          </a:solidFill>
          <a:ln w="9525">
            <a:solidFill>
              <a:srgbClr val="3F3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02116" y="2606040"/>
            <a:ext cx="296661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4ADE80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2116" y="3200400"/>
            <a:ext cx="296661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AFAFA"/>
                </a:solidFill>
                <a:latin typeface="Calibri"/>
              </a:rPr>
              <a:t>Two-way Firestore sync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2116" y="3749040"/>
            <a:ext cx="296661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A1A1AA"/>
                </a:solidFill>
                <a:latin typeface="Calibri"/>
              </a:rPr>
              <a:t>A re-installed device pulls existing trips back from the cloud.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20640"/>
            <a:ext cx="11094415" cy="1280160"/>
          </a:xfrm>
          <a:prstGeom prst="roundRect">
            <a:avLst>
              <a:gd name="adj" fmla="val 4000"/>
            </a:avLst>
          </a:prstGeom>
          <a:solidFill>
            <a:srgbClr val="18181B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303520"/>
            <a:ext cx="103628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AFAFA"/>
                </a:solidFill>
                <a:latin typeface="Calibri"/>
              </a:rPr>
              <a:t>Thank you  ·  Questions?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897880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4ADE80"/>
                </a:solidFill>
                <a:latin typeface="Consolas"/>
              </a:rPr>
              <a:t>github.com/xms12138/CASA0015-Mobile-System</a:t>
            </a:r>
          </a:p>
          <a:p>
            <a:pPr algn="l"/>
            <a:r>
              <a:rPr sz="1300" b="0" i="0">
                <a:solidFill>
                  <a:srgbClr val="4ADE80"/>
                </a:solidFill>
                <a:latin typeface="Consolas"/>
              </a:rPr>
              <a:t>xms12138.github.io/CASA0015-Mobile-System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1717A"/>
                </a:solidFill>
                <a:latin typeface="Calibri"/>
              </a:rPr>
              <a:t>TravelTrace · CASA0015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14255" y="65379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1717A"/>
                </a:solidFill>
                <a:latin typeface="Calibr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